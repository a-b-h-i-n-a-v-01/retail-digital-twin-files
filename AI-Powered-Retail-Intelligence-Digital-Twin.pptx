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Syne Bold" pitchFamily="2" charset="0"/>
      <p:regular r:id="rId19"/>
    </p:embeddedFont>
    <p:embeddedFont>
      <p:font typeface="Syne" pitchFamily="2" charset="0"/>
      <p:regular r:id="rId20"/>
    </p:embeddedFont>
    <p:embeddedFont>
      <p:font typeface="Syne ExtraBold" pitchFamily="2" charset="0"/>
      <p:regular r:id="rId21"/>
    </p:embeddedFont>
    <p:embeddedFont>
      <p:font typeface="Syne Medium" pitchFamily="2" charset="0"/>
      <p:regular r:id="rId22"/>
    </p:embeddedFont>
    <p:embeddedFont>
      <p:font typeface="Syne SemiBold" pitchFamily="2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font" Target="fonts/font3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2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5.fntdata" /><Relationship Id="rId10" Type="http://schemas.openxmlformats.org/officeDocument/2006/relationships/slide" Target="slides/slide9.xml" /><Relationship Id="rId19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4.fntdata" /><Relationship Id="rId2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946BE-90A3-084B-B0E3-81DAF87AF73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989B9-DFD2-A242-9B36-48F96920A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5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152025">
              <a:alpha val="95000"/>
            </a:srgbClr>
          </a:solidFill>
          <a:ln w="6350">
            <a:solidFill>
              <a:srgbClr val="E6E6E6">
                <a:alpha val="25000"/>
              </a:srgbClr>
            </a:solidFill>
            <a:prstDash val="solid"/>
          </a:ln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152025">
              <a:alpha val="95000"/>
            </a:srgbClr>
          </a:solidFill>
          <a:ln w="6350">
            <a:solidFill>
              <a:srgbClr val="E6E6E6">
                <a:alpha val="25000"/>
              </a:srgbClr>
            </a:solidFill>
            <a:prstDash val="solid"/>
          </a:ln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152025">
              <a:alpha val="95000"/>
            </a:srgbClr>
          </a:solidFill>
          <a:ln w="6350">
            <a:solidFill>
              <a:srgbClr val="E6E6E6">
                <a:alpha val="25000"/>
              </a:srgbClr>
            </a:solidFill>
            <a:prstDash val="solid"/>
          </a:ln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152025">
              <a:alpha val="95000"/>
            </a:srgbClr>
          </a:solidFill>
          <a:ln w="6350">
            <a:solidFill>
              <a:srgbClr val="E6E6E6">
                <a:alpha val="25000"/>
              </a:srgbClr>
            </a:solidFill>
            <a:prstDash val="solid"/>
          </a:ln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6.svg" /><Relationship Id="rId5" Type="http://schemas.openxmlformats.org/officeDocument/2006/relationships/image" Target="../media/image5.svg" /><Relationship Id="rId4" Type="http://schemas.openxmlformats.org/officeDocument/2006/relationships/image" Target="../media/image4.sv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 /><Relationship Id="rId3" Type="http://schemas.openxmlformats.org/officeDocument/2006/relationships/image" Target="../media/image7.svg" /><Relationship Id="rId7" Type="http://schemas.openxmlformats.org/officeDocument/2006/relationships/image" Target="../media/image11.sv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10.svg" /><Relationship Id="rId5" Type="http://schemas.openxmlformats.org/officeDocument/2006/relationships/image" Target="../media/image9.svg" /><Relationship Id="rId4" Type="http://schemas.openxmlformats.org/officeDocument/2006/relationships/image" Target="../media/image8.svg" /><Relationship Id="rId9" Type="http://schemas.openxmlformats.org/officeDocument/2006/relationships/image" Target="../media/image13.sv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6.svg" /><Relationship Id="rId4" Type="http://schemas.openxmlformats.org/officeDocument/2006/relationships/image" Target="../media/image15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7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0.svg" /><Relationship Id="rId4" Type="http://schemas.openxmlformats.org/officeDocument/2006/relationships/image" Target="../media/image19.sv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2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9.svg" /><Relationship Id="rId5" Type="http://schemas.openxmlformats.org/officeDocument/2006/relationships/image" Target="../media/image25.svg" /><Relationship Id="rId4" Type="http://schemas.openxmlformats.org/officeDocument/2006/relationships/image" Target="../media/image24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29.svg" /><Relationship Id="rId5" Type="http://schemas.openxmlformats.org/officeDocument/2006/relationships/image" Target="../media/image28.svg" /><Relationship Id="rId4" Type="http://schemas.openxmlformats.org/officeDocument/2006/relationships/image" Target="../media/image27.sv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5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596529"/>
            <a:ext cx="10224633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AI-Powered Retail Intelligence Digital Twin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78738" y="3063577"/>
            <a:ext cx="1083421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Deep Learning Based Decision Support System for Small and Medium Retail Businesses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83531" y="3592513"/>
            <a:ext cx="10224633" cy="25400"/>
          </a:xfrm>
          <a:prstGeom prst="roundRect">
            <a:avLst>
              <a:gd name="adj" fmla="val 59999"/>
            </a:avLst>
          </a:prstGeom>
          <a:solidFill>
            <a:srgbClr val="D7E5D8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3531" y="4062413"/>
            <a:ext cx="1297054" cy="270173"/>
          </a:xfrm>
          <a:prstGeom prst="roundRect">
            <a:avLst>
              <a:gd name="adj" fmla="val 22114"/>
            </a:avLst>
          </a:prstGeom>
          <a:solidFill>
            <a:srgbClr val="334805"/>
          </a:solidFill>
          <a:ln/>
        </p:spPr>
      </p:sp>
      <p:sp>
        <p:nvSpPr>
          <p:cNvPr id="6" name="Text 4"/>
          <p:cNvSpPr/>
          <p:nvPr/>
        </p:nvSpPr>
        <p:spPr>
          <a:xfrm>
            <a:off x="1090188" y="4115693"/>
            <a:ext cx="169332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3531" y="4532610"/>
            <a:ext cx="489543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Abhinav Krishna C S 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· </a:t>
            </a: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Akhil Shaji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· </a:t>
            </a: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Abel Shibu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· </a:t>
            </a: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Aswin Soman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19084" y="4062413"/>
            <a:ext cx="986706" cy="270173"/>
          </a:xfrm>
          <a:prstGeom prst="roundRect">
            <a:avLst>
              <a:gd name="adj" fmla="val 22114"/>
            </a:avLst>
          </a:prstGeom>
          <a:noFill/>
          <a:ln w="6350">
            <a:solidFill>
              <a:srgbClr val="A9F0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5742" y="4115693"/>
            <a:ext cx="138297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KEYWORDS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9084" y="4532610"/>
            <a:ext cx="489543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Digital Twin · Deep Learning · BERT · Generative AI · Business Simulation · Retail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034256"/>
            <a:ext cx="10224633" cy="52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Agenda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983531" y="1883073"/>
            <a:ext cx="10224633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This presentation covers the full scope of the AI-Powered Retail Intelligence Digital Twin project — from research objectives and literature gaps to the technology stack and current submission status.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2611735"/>
            <a:ext cx="168866" cy="1688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83531" y="2858591"/>
            <a:ext cx="5032051" cy="1905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6" name="Text 3"/>
          <p:cNvSpPr/>
          <p:nvPr/>
        </p:nvSpPr>
        <p:spPr>
          <a:xfrm>
            <a:off x="983531" y="2981127"/>
            <a:ext cx="5032051" cy="26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Objectives of the Project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83531" y="3341291"/>
            <a:ext cx="5032051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Virtual Digital Twin, Forecasting Engine, Customer Intelligence, Recommendations, GenAI Copilot, What-If Simulation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6014" y="2611735"/>
            <a:ext cx="168866" cy="16887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6014" y="2858591"/>
            <a:ext cx="5032150" cy="1905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0" name="Text 6"/>
          <p:cNvSpPr/>
          <p:nvPr/>
        </p:nvSpPr>
        <p:spPr>
          <a:xfrm>
            <a:off x="6176014" y="2981127"/>
            <a:ext cx="5032150" cy="52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Literature Reviewed &amp; Gaps Identified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176014" y="3605213"/>
            <a:ext cx="503215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Six research domains surveyed; six critical gaps identified in existing SMB retail intelligence solutions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531" y="4440436"/>
            <a:ext cx="168866" cy="16887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83531" y="4687292"/>
            <a:ext cx="5032051" cy="1905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4" name="Text 9"/>
          <p:cNvSpPr/>
          <p:nvPr/>
        </p:nvSpPr>
        <p:spPr>
          <a:xfrm>
            <a:off x="983531" y="4809827"/>
            <a:ext cx="5032051" cy="26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Technologies &amp; Models Used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83531" y="5169991"/>
            <a:ext cx="5032051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PatchTST, XGBoost, BERT, K-Means, Apriori/FP-Growth, Llama 3/Gemma — full stack breakdown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6014" y="4440436"/>
            <a:ext cx="168866" cy="16887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76014" y="4687292"/>
            <a:ext cx="5032150" cy="1905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8" name="Text 12"/>
          <p:cNvSpPr/>
          <p:nvPr/>
        </p:nvSpPr>
        <p:spPr>
          <a:xfrm>
            <a:off x="6176014" y="4809827"/>
            <a:ext cx="5032150" cy="26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Status of Paperwork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176014" y="5169991"/>
            <a:ext cx="503215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~52% overall completion · IEEE / Springer LNCS · Submission target: December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809030"/>
            <a:ext cx="1022463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Objectives of the Project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1597124"/>
            <a:ext cx="3312236" cy="214491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9597" y="1732955"/>
            <a:ext cx="240004" cy="2400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517" y="2240161"/>
            <a:ext cx="295426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Virtual Retail Digital Twin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1162517" y="2826643"/>
            <a:ext cx="2954264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Create a store mirror to simulate conditions and preview outcomes.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9730" y="1597124"/>
            <a:ext cx="3312236" cy="2144911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5796" y="1732955"/>
            <a:ext cx="240004" cy="24001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618716" y="2240161"/>
            <a:ext cx="2954264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Intelligent Forecasting Engine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4618716" y="3076674"/>
            <a:ext cx="2954264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Use PatchTST and XGBoost for demand and restock prediction.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5928" y="1597124"/>
            <a:ext cx="3312236" cy="214491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1995" y="1732955"/>
            <a:ext cx="240004" cy="24001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074914" y="2240161"/>
            <a:ext cx="295426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Intelligence</a:t>
            </a:r>
            <a:endParaRPr lang="en-US" sz="1550" dirty="0"/>
          </a:p>
        </p:txBody>
      </p:sp>
      <p:sp>
        <p:nvSpPr>
          <p:cNvPr id="14" name="Text 6"/>
          <p:cNvSpPr/>
          <p:nvPr/>
        </p:nvSpPr>
        <p:spPr>
          <a:xfrm>
            <a:off x="8074914" y="2826643"/>
            <a:ext cx="2954264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Segment customers, predict churn, and analyze sentiment.</a:t>
            </a:r>
            <a:endParaRPr lang="en-US" sz="12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3904059"/>
            <a:ext cx="3312236" cy="2144911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9597" y="4039890"/>
            <a:ext cx="240004" cy="24001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162517" y="4547096"/>
            <a:ext cx="2954264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Smart Recommendation System</a:t>
            </a:r>
            <a:endParaRPr lang="en-US" sz="1550" dirty="0"/>
          </a:p>
        </p:txBody>
      </p:sp>
      <p:sp>
        <p:nvSpPr>
          <p:cNvPr id="18" name="Text 8"/>
          <p:cNvSpPr/>
          <p:nvPr/>
        </p:nvSpPr>
        <p:spPr>
          <a:xfrm>
            <a:off x="1162517" y="5383609"/>
            <a:ext cx="2954264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Recommend products with collaborative filtering and basket analysis.</a:t>
            </a:r>
            <a:endParaRPr lang="en-US" sz="12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9730" y="3904059"/>
            <a:ext cx="3312236" cy="2144911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75796" y="4039890"/>
            <a:ext cx="240004" cy="24001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618716" y="4547096"/>
            <a:ext cx="295426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Generative AI Business Copilot</a:t>
            </a:r>
            <a:endParaRPr lang="en-US" sz="1550" dirty="0"/>
          </a:p>
        </p:txBody>
      </p:sp>
      <p:sp>
        <p:nvSpPr>
          <p:cNvPr id="22" name="Text 10"/>
          <p:cNvSpPr/>
          <p:nvPr/>
        </p:nvSpPr>
        <p:spPr>
          <a:xfrm>
            <a:off x="4618716" y="5133578"/>
            <a:ext cx="2954264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Answer questions and generate business reports.</a:t>
            </a:r>
            <a:endParaRPr lang="en-US" sz="12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5928" y="3904059"/>
            <a:ext cx="3312236" cy="2144911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1995" y="4039890"/>
            <a:ext cx="240004" cy="24001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8074914" y="4547096"/>
            <a:ext cx="295426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What-If Simulation</a:t>
            </a:r>
            <a:endParaRPr lang="en-US" sz="1550" dirty="0"/>
          </a:p>
        </p:txBody>
      </p:sp>
      <p:sp>
        <p:nvSpPr>
          <p:cNvPr id="26" name="Text 12"/>
          <p:cNvSpPr/>
          <p:nvPr/>
        </p:nvSpPr>
        <p:spPr>
          <a:xfrm>
            <a:off x="8074914" y="5133578"/>
            <a:ext cx="2954264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 pricing, festival, and inventory scenarios before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967680"/>
            <a:ext cx="10224633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Intelligent Decision Support Modules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983531" y="2711549"/>
            <a:ext cx="2422762" cy="2540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4" name="Text 2"/>
          <p:cNvSpPr/>
          <p:nvPr/>
        </p:nvSpPr>
        <p:spPr>
          <a:xfrm>
            <a:off x="983531" y="2851249"/>
            <a:ext cx="2422762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Sentiment Analysis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83531" y="3513534"/>
            <a:ext cx="242276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Flags satisfaction and complaints from reviews.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84088" y="2711549"/>
            <a:ext cx="2422861" cy="2540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7" name="Text 5"/>
          <p:cNvSpPr/>
          <p:nvPr/>
        </p:nvSpPr>
        <p:spPr>
          <a:xfrm>
            <a:off x="3584088" y="2851249"/>
            <a:ext cx="2422861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Market Basket Analysis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584088" y="3791347"/>
            <a:ext cx="242286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Finds products commonly bought together.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4745" y="2711549"/>
            <a:ext cx="2422762" cy="2540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0" name="Text 8"/>
          <p:cNvSpPr/>
          <p:nvPr/>
        </p:nvSpPr>
        <p:spPr>
          <a:xfrm>
            <a:off x="6184745" y="2851249"/>
            <a:ext cx="2422762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Recommendation Engine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184745" y="3513534"/>
            <a:ext cx="242276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Suggests products using customer behavior.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85303" y="2711549"/>
            <a:ext cx="2422861" cy="2540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3" name="Text 11"/>
          <p:cNvSpPr/>
          <p:nvPr/>
        </p:nvSpPr>
        <p:spPr>
          <a:xfrm>
            <a:off x="8785303" y="2851249"/>
            <a:ext cx="2422861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AI Business Copilot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785303" y="3513534"/>
            <a:ext cx="242286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Answers questions and supports decisions.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83531" y="4948238"/>
            <a:ext cx="10224633" cy="2540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6" name="Text 14"/>
          <p:cNvSpPr/>
          <p:nvPr/>
        </p:nvSpPr>
        <p:spPr>
          <a:xfrm>
            <a:off x="983531" y="5087938"/>
            <a:ext cx="10224633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AI Report Generator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3531" y="5472410"/>
            <a:ext cx="1022463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Creates concise business reports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833438"/>
            <a:ext cx="10224633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How Our AI Modules Help Retail Managers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2300486"/>
            <a:ext cx="10224633" cy="177313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000" y="3053655"/>
            <a:ext cx="266693" cy="266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7908" y="2503686"/>
            <a:ext cx="9107061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Digital Twin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897908" y="2888159"/>
            <a:ext cx="91070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Virtual copy of the store for safe testing.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164601" y="3479304"/>
            <a:ext cx="88403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manager simulates a 20% discount before launch.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897908" y="3372644"/>
            <a:ext cx="25399" cy="497780"/>
          </a:xfrm>
          <a:prstGeom prst="roundRect">
            <a:avLst>
              <a:gd name="adj" fmla="val 60001"/>
            </a:avLst>
          </a:prstGeom>
          <a:solidFill>
            <a:srgbClr val="A9F00F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4251424"/>
            <a:ext cx="10224633" cy="17731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000" y="5004594"/>
            <a:ext cx="266693" cy="266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97908" y="4454624"/>
            <a:ext cx="9107061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Sales Forecasting (PatchTST)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897908" y="4839097"/>
            <a:ext cx="91070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Predicts future demand from sales patterns.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2164601" y="5430242"/>
            <a:ext cx="88403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system expects umbrella sales to rise 40% next week.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1897908" y="5323582"/>
            <a:ext cx="25399" cy="497780"/>
          </a:xfrm>
          <a:prstGeom prst="roundRect">
            <a:avLst>
              <a:gd name="adj" fmla="val 60001"/>
            </a:avLst>
          </a:prstGeom>
          <a:solidFill>
            <a:srgbClr val="A9F00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808857"/>
            <a:ext cx="10224633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How Our AI Modules Help Retail Managers (Part 1.5)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3275905"/>
            <a:ext cx="10224633" cy="177313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000" y="4029075"/>
            <a:ext cx="266693" cy="266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7908" y="3479105"/>
            <a:ext cx="9107061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Inventory Optimization (XGBoost)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897908" y="3863578"/>
            <a:ext cx="91070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Determines when products should be reordered and how much stock is required.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164601" y="4454723"/>
            <a:ext cx="88403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Only 18 bags of rice remain. The system predicts demand will rise and recommends ordering 100 more bags.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897908" y="4348063"/>
            <a:ext cx="25399" cy="497780"/>
          </a:xfrm>
          <a:prstGeom prst="roundRect">
            <a:avLst>
              <a:gd name="adj" fmla="val 60001"/>
            </a:avLst>
          </a:prstGeom>
          <a:solidFill>
            <a:srgbClr val="A9F00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078210"/>
            <a:ext cx="10224633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How Our AI Modules Help Retail Managers (Part 2)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2545259"/>
            <a:ext cx="5023419" cy="323453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8533" y="2705298"/>
            <a:ext cx="213315" cy="213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6726" y="3256459"/>
            <a:ext cx="4617029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Segmentation (K-Means)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186726" y="3918744"/>
            <a:ext cx="4617029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Groups customers by purchasing behaviour.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Helps managers create targeted offers.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453419" y="4901009"/>
            <a:ext cx="435033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Loyal customers get reward coupons, while new customers get welcome discounts.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186726" y="4794349"/>
            <a:ext cx="25399" cy="782241"/>
          </a:xfrm>
          <a:prstGeom prst="roundRect">
            <a:avLst>
              <a:gd name="adj" fmla="val 60001"/>
            </a:avLst>
          </a:prstGeom>
          <a:solidFill>
            <a:srgbClr val="A9F00F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4745" y="2545259"/>
            <a:ext cx="5023419" cy="323453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89748" y="2705298"/>
            <a:ext cx="213315" cy="213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87940" y="3256459"/>
            <a:ext cx="4617029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Churn Prediction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387940" y="3918744"/>
            <a:ext cx="4617029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Identifies customers likely to stop shopping.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Helps retailers retain valuable customers early.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654634" y="4901009"/>
            <a:ext cx="435033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system recommends sending a personalized discount coupon.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387940" y="4794349"/>
            <a:ext cx="25399" cy="782241"/>
          </a:xfrm>
          <a:prstGeom prst="roundRect">
            <a:avLst>
              <a:gd name="adj" fmla="val 60001"/>
            </a:avLst>
          </a:prstGeom>
          <a:solidFill>
            <a:srgbClr val="A9F00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613297"/>
            <a:ext cx="10224633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How Our AI Modules Help Retail Managers (Part 3)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3080345"/>
            <a:ext cx="10224633" cy="216425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000" y="4029075"/>
            <a:ext cx="266693" cy="266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7908" y="3283545"/>
            <a:ext cx="9107061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Footfall Prediction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897908" y="3668018"/>
            <a:ext cx="9107061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Predicts how many customers will visit the store.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Helps managers schedule staff and prepare inventory.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164601" y="4650284"/>
            <a:ext cx="884036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system predicts around 900 customers on Saturday, so the manager schedules additional billing staff.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897908" y="4543623"/>
            <a:ext cx="25399" cy="497780"/>
          </a:xfrm>
          <a:prstGeom prst="roundRect">
            <a:avLst>
              <a:gd name="adj" fmla="val 60001"/>
            </a:avLst>
          </a:prstGeom>
          <a:solidFill>
            <a:srgbClr val="A9F00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953790"/>
            <a:ext cx="10224633" cy="555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Literature Reviewed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1865114"/>
            <a:ext cx="3289615" cy="403909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1681" y="2025154"/>
            <a:ext cx="213315" cy="213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6726" y="2576314"/>
            <a:ext cx="2883225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PatchTST: A Transformer-Based Model for Long-Term Time-Series Forecasting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186726" y="4349849"/>
            <a:ext cx="2883225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Year: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2023</a:t>
            </a:r>
            <a:endParaRPr lang="en-US" sz="140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Focus: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Sales forecasting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Contribution: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Patching approach for accurate demand prediction.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0941" y="1865114"/>
            <a:ext cx="3289714" cy="403909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9091" y="2025154"/>
            <a:ext cx="213315" cy="213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654136" y="2576314"/>
            <a:ext cx="2883324" cy="138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Inventory Management Using Machine Learning Techniques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4654136" y="4072037"/>
            <a:ext cx="2883324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Year: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2022</a:t>
            </a:r>
            <a:endParaRPr lang="en-US" sz="140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Focus: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Inventory optimization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Contribution: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Used XGBoost and Random Forest for prediction.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8450" y="1865114"/>
            <a:ext cx="3289714" cy="403909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56600" y="2025154"/>
            <a:ext cx="213315" cy="21332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121645" y="2576314"/>
            <a:ext cx="2883324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Segmentation Using RFM Analysis and K-Means Clustering</a:t>
            </a:r>
            <a:endParaRPr lang="en-US" sz="1750" dirty="0"/>
          </a:p>
        </p:txBody>
      </p:sp>
      <p:sp>
        <p:nvSpPr>
          <p:cNvPr id="14" name="Text 6"/>
          <p:cNvSpPr/>
          <p:nvPr/>
        </p:nvSpPr>
        <p:spPr>
          <a:xfrm>
            <a:off x="8121645" y="4349849"/>
            <a:ext cx="2883324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Year: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2023</a:t>
            </a:r>
            <a:endParaRPr lang="en-US" sz="1400" dirty="0"/>
          </a:p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Focus: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Customer analytics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Contribution: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Segmented customers by purchasing behaviour.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241623"/>
            <a:ext cx="10224633" cy="52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Literature Reviewed (Part 2)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2090440"/>
            <a:ext cx="3301223" cy="352593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2743" y="2242443"/>
            <a:ext cx="202699" cy="2027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1446" y="2766020"/>
            <a:ext cx="2925392" cy="105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Frequent Pattern Mining Using FP-Growth Algorithm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171446" y="3917950"/>
            <a:ext cx="2925392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Year: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2000</a:t>
            </a:r>
            <a:endParaRPr lang="en-US" sz="1300" dirty="0"/>
          </a:p>
          <a:p>
            <a:pPr marL="0" indent="0" algn="l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Focus: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Product recommendation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Contribution: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Finds frequent product combinations efficiently.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186" y="2090440"/>
            <a:ext cx="3301223" cy="352593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4399" y="2242443"/>
            <a:ext cx="202699" cy="20270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633102" y="2766020"/>
            <a:ext cx="2925392" cy="791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Churn Prediction Using XGBoost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4633102" y="3654028"/>
            <a:ext cx="2925392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Year: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2022</a:t>
            </a:r>
            <a:endParaRPr lang="en-US" sz="1300" dirty="0"/>
          </a:p>
          <a:p>
            <a:pPr marL="0" indent="0" algn="l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Focus: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Churn prediction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Contribution: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Predicts customer attrition with machine learning.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842" y="2090440"/>
            <a:ext cx="3301322" cy="3525937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56154" y="2242443"/>
            <a:ext cx="202699" cy="20270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094758" y="2766020"/>
            <a:ext cx="2925491" cy="1319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Digital Twins in Smart Manufacturing and Retail: A Survey</a:t>
            </a:r>
            <a:endParaRPr lang="en-US" sz="1650" dirty="0"/>
          </a:p>
        </p:txBody>
      </p:sp>
      <p:sp>
        <p:nvSpPr>
          <p:cNvPr id="14" name="Text 6"/>
          <p:cNvSpPr/>
          <p:nvPr/>
        </p:nvSpPr>
        <p:spPr>
          <a:xfrm>
            <a:off x="8094758" y="4181872"/>
            <a:ext cx="2925491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Year: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2024</a:t>
            </a:r>
            <a:endParaRPr lang="en-US" sz="1300" dirty="0"/>
          </a:p>
          <a:p>
            <a:pPr marL="0" indent="0" algn="l">
              <a:lnSpc>
                <a:spcPct val="130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Focus: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Digital twin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Contribution:</a:t>
            </a: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Reviews architectures for industrial and retail use.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958975"/>
            <a:ext cx="10224633" cy="555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Research Gaps Identified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983531" y="2870299"/>
            <a:ext cx="3289615" cy="2028726"/>
          </a:xfrm>
          <a:prstGeom prst="roundRect">
            <a:avLst>
              <a:gd name="adj" fmla="val 3681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6726" y="3073499"/>
            <a:ext cx="288322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PatchTST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86726" y="3457972"/>
            <a:ext cx="2883225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Limitation: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Forecasting only.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Gap: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Add to a full retail intelligence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50941" y="2870299"/>
            <a:ext cx="3289714" cy="2028726"/>
          </a:xfrm>
          <a:prstGeom prst="roundRect">
            <a:avLst>
              <a:gd name="adj" fmla="val 3681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4136" y="3073499"/>
            <a:ext cx="2883324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Inventory ML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654136" y="3457972"/>
            <a:ext cx="2883324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Limitation: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Managed separately.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Gap: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Link demand forecasting and Digital Twin.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18450" y="2870299"/>
            <a:ext cx="3289714" cy="2028726"/>
          </a:xfrm>
          <a:prstGeom prst="roundRect">
            <a:avLst>
              <a:gd name="adj" fmla="val 3681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1645" y="3073499"/>
            <a:ext cx="2883324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 Segmentation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121645" y="3735784"/>
            <a:ext cx="2883324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Limitation: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Static segments.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Gap: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Combine with churn and recommendations.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538883"/>
            <a:ext cx="10224633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Research Gaps Identified (Part 2)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983531" y="3005931"/>
            <a:ext cx="3289615" cy="2313186"/>
          </a:xfrm>
          <a:prstGeom prst="roundRect">
            <a:avLst>
              <a:gd name="adj" fmla="val 3229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6726" y="3209131"/>
            <a:ext cx="288322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FP-Growth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86726" y="3593604"/>
            <a:ext cx="2883225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Limitation: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No personalized recommendations.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Gap: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Hybrid recommendations.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50941" y="3005931"/>
            <a:ext cx="3289714" cy="2313186"/>
          </a:xfrm>
          <a:prstGeom prst="roundRect">
            <a:avLst>
              <a:gd name="adj" fmla="val 3229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4136" y="3209131"/>
            <a:ext cx="2883324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Churn Prediction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654136" y="3871416"/>
            <a:ext cx="2883324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Limitation: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Prediction only.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Gap: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AI Copilot for retention insights.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18450" y="3005931"/>
            <a:ext cx="3289714" cy="2313186"/>
          </a:xfrm>
          <a:prstGeom prst="roundRect">
            <a:avLst>
              <a:gd name="adj" fmla="val 3229"/>
            </a:avLst>
          </a:prstGeom>
          <a:solidFill>
            <a:srgbClr val="152025">
              <a:alpha val="95000"/>
            </a:srgbClr>
          </a:solidFill>
          <a:ln w="25399">
            <a:solidFill>
              <a:srgbClr val="6D9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1645" y="3209131"/>
            <a:ext cx="2883324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Digital Twin Survey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121645" y="3871416"/>
            <a:ext cx="2883324" cy="124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Limitation: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Enterprise-focused, no predictive AI.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Gap:</a:t>
            </a: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Affordable AI Digital Twin for SMBs.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123851"/>
            <a:ext cx="10224633" cy="52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Gaps Identified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1972667"/>
            <a:ext cx="3301223" cy="1790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7645" y="2160588"/>
            <a:ext cx="2849194" cy="52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Fragmented Solutions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247645" y="2784673"/>
            <a:ext cx="2849194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 unified SMB platform combines forecasting, segmentation, sentiment, recommendations, and simulation.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186" y="1972667"/>
            <a:ext cx="3301223" cy="17905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300" y="2160588"/>
            <a:ext cx="2849194" cy="52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No What-If Simulation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709300" y="2784673"/>
            <a:ext cx="2849194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 SMB tool offers a Digital Twin sandbox to test decisions before execution.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842" y="1972667"/>
            <a:ext cx="3301322" cy="17905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70956" y="2160588"/>
            <a:ext cx="2849293" cy="52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Missing GenAI Copilot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170956" y="2784673"/>
            <a:ext cx="2849293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Dashboards are static; there is no conversational LLM copilot for business Q&amp;A and reports.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3943648"/>
            <a:ext cx="3301223" cy="17905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7645" y="4131568"/>
            <a:ext cx="2849194" cy="52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Cost Barrier for SMBs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247645" y="4755654"/>
            <a:ext cx="2849194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Enterprise platforms are too expensive, while open-source tools lack integrated intelligence.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186" y="3943648"/>
            <a:ext cx="3301223" cy="17905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09300" y="4131568"/>
            <a:ext cx="2849194" cy="52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Reactive, Not Proactive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4709300" y="4755654"/>
            <a:ext cx="2849194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Most tools explain past data instead of helping teams act before problems happen.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842" y="3943648"/>
            <a:ext cx="3301322" cy="17905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70956" y="4131568"/>
            <a:ext cx="2849293" cy="52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Manual Reporting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8170956" y="4755654"/>
            <a:ext cx="2849293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Retail reporting is still compiled manually across disconnected data sources.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338659"/>
            <a:ext cx="10224633" cy="527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Technologies &amp; Models Used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83531" y="2187476"/>
            <a:ext cx="10224633" cy="3331766"/>
          </a:xfrm>
          <a:prstGeom prst="roundRect">
            <a:avLst>
              <a:gd name="adj" fmla="val 212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531" y="2665710"/>
            <a:ext cx="10224633" cy="10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3531" y="3140770"/>
            <a:ext cx="10224633" cy="10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3531" y="3615829"/>
            <a:ext cx="10224633" cy="10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3531" y="4090888"/>
            <a:ext cx="10224633" cy="10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3531" y="4565948"/>
            <a:ext cx="10224633" cy="10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3531" y="5041007"/>
            <a:ext cx="10224633" cy="1055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0079" y="2193826"/>
            <a:ext cx="3063501" cy="471884"/>
          </a:xfrm>
          <a:prstGeom prst="rect">
            <a:avLst/>
          </a:prstGeom>
          <a:solidFill>
            <a:srgbClr val="547808"/>
          </a:solidFill>
          <a:ln/>
        </p:spPr>
      </p:sp>
      <p:sp>
        <p:nvSpPr>
          <p:cNvPr id="11" name="Text 9"/>
          <p:cNvSpPr/>
          <p:nvPr/>
        </p:nvSpPr>
        <p:spPr>
          <a:xfrm>
            <a:off x="1158945" y="2296418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Module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53580" y="2193826"/>
            <a:ext cx="4084734" cy="471884"/>
          </a:xfrm>
          <a:prstGeom prst="rect">
            <a:avLst/>
          </a:prstGeom>
          <a:solidFill>
            <a:srgbClr val="547808"/>
          </a:solidFill>
          <a:ln/>
        </p:spPr>
      </p:sp>
      <p:sp>
        <p:nvSpPr>
          <p:cNvPr id="13" name="Text 11"/>
          <p:cNvSpPr/>
          <p:nvPr/>
        </p:nvSpPr>
        <p:spPr>
          <a:xfrm>
            <a:off x="4222446" y="2296418"/>
            <a:ext cx="4356586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314" y="2193826"/>
            <a:ext cx="3063501" cy="471884"/>
          </a:xfrm>
          <a:prstGeom prst="rect">
            <a:avLst/>
          </a:prstGeom>
          <a:solidFill>
            <a:srgbClr val="547808"/>
          </a:solidFill>
          <a:ln/>
        </p:spPr>
      </p:sp>
      <p:sp>
        <p:nvSpPr>
          <p:cNvPr id="15" name="Text 13"/>
          <p:cNvSpPr/>
          <p:nvPr/>
        </p:nvSpPr>
        <p:spPr>
          <a:xfrm>
            <a:off x="8307180" y="2296418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8945" y="2771477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Sales Forecasting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22446" y="2771477"/>
            <a:ext cx="4356586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PatchTST, PyTorch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7180" y="2771477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Rossmann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8945" y="3246537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Inventory Optimization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22446" y="3246537"/>
            <a:ext cx="4356586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XGBoost, Scikit-Learn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07180" y="3246537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UCI Online Retail 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8945" y="3721596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22446" y="3721596"/>
            <a:ext cx="4356586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K-Means, RFM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07180" y="3721596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Olist E-Commerce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8945" y="4196655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22446" y="4196655"/>
            <a:ext cx="4356586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BERT, Transformers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07180" y="4196655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Olist Reviews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8945" y="4671715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22446" y="4671715"/>
            <a:ext cx="4356586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Apriori, FP-Growth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07180" y="4671715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Instacart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8945" y="5146774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Copilot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22446" y="5146774"/>
            <a:ext cx="4356586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Llama 3 / Gemma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07180" y="5146774"/>
            <a:ext cx="333535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—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877689"/>
            <a:ext cx="10224633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83531" y="1549797"/>
            <a:ext cx="1083421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Open-source, locally deployable, and built for private on-premise LLM inference.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81040" y="1882577"/>
            <a:ext cx="5143768" cy="4097734"/>
          </a:xfrm>
          <a:prstGeom prst="roundRect">
            <a:avLst>
              <a:gd name="adj" fmla="val 2500"/>
            </a:avLst>
          </a:prstGeom>
          <a:solidFill>
            <a:srgbClr val="111A23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3217" y="2010569"/>
            <a:ext cx="966763" cy="216198"/>
          </a:xfrm>
          <a:prstGeom prst="roundRect">
            <a:avLst>
              <a:gd name="adj" fmla="val 22108"/>
            </a:avLst>
          </a:prstGeom>
          <a:solidFill>
            <a:srgbClr val="334805"/>
          </a:solidFill>
          <a:ln/>
        </p:spPr>
      </p:sp>
      <p:sp>
        <p:nvSpPr>
          <p:cNvPr id="6" name="Text 4"/>
          <p:cNvSpPr/>
          <p:nvPr/>
        </p:nvSpPr>
        <p:spPr>
          <a:xfrm>
            <a:off x="1108543" y="2053233"/>
            <a:ext cx="1405696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BACKEND &amp; ML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68" y="2335709"/>
            <a:ext cx="4878464" cy="5789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3493" y="2354759"/>
            <a:ext cx="467913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Runtime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03493" y="2690813"/>
            <a:ext cx="467913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Python 3.11 · Flask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68" y="3104158"/>
            <a:ext cx="4878464" cy="578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3493" y="3123208"/>
            <a:ext cx="467913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03493" y="3459262"/>
            <a:ext cx="467913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PyTorch · HuggingFace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68" y="3872607"/>
            <a:ext cx="4878464" cy="5789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3493" y="3891657"/>
            <a:ext cx="467913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Classical ML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03493" y="4227711"/>
            <a:ext cx="467913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Scikit-Learn · XGBoost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68" y="4641056"/>
            <a:ext cx="4878464" cy="57894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03493" y="4660106"/>
            <a:ext cx="467913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LLM Stack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203493" y="4996160"/>
            <a:ext cx="4679138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Ollama · LangChain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023217" y="5328940"/>
            <a:ext cx="764858" cy="216198"/>
          </a:xfrm>
          <a:prstGeom prst="roundRect">
            <a:avLst>
              <a:gd name="adj" fmla="val 22108"/>
            </a:avLst>
          </a:prstGeom>
          <a:noFill/>
          <a:ln w="6350">
            <a:solidFill>
              <a:srgbClr val="A9F00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108543" y="5371604"/>
            <a:ext cx="1203791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FRONTEND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1023217" y="5673130"/>
            <a:ext cx="5468999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HTML5 · CSS · JavaScript · Chart.js · D3.js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275727" y="2010569"/>
            <a:ext cx="1107353" cy="216198"/>
          </a:xfrm>
          <a:prstGeom prst="roundRect">
            <a:avLst>
              <a:gd name="adj" fmla="val 22108"/>
            </a:avLst>
          </a:prstGeom>
          <a:solidFill>
            <a:srgbClr val="334805"/>
          </a:solidFill>
          <a:ln/>
        </p:spPr>
      </p:sp>
      <p:sp>
        <p:nvSpPr>
          <p:cNvPr id="23" name="Text 17"/>
          <p:cNvSpPr/>
          <p:nvPr/>
        </p:nvSpPr>
        <p:spPr>
          <a:xfrm>
            <a:off x="6361053" y="2053233"/>
            <a:ext cx="1546286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PUBLIC DATASETS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275727" y="2354759"/>
            <a:ext cx="2412444" cy="863302"/>
          </a:xfrm>
          <a:prstGeom prst="roundRect">
            <a:avLst>
              <a:gd name="adj" fmla="val 6921"/>
            </a:avLst>
          </a:prstGeom>
          <a:solidFill>
            <a:srgbClr val="152025">
              <a:alpha val="95000"/>
            </a:srgbClr>
          </a:solidFill>
          <a:ln w="19050">
            <a:solidFill>
              <a:srgbClr val="6D912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36953" y="2515989"/>
            <a:ext cx="208999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Rossmann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36953" y="2852043"/>
            <a:ext cx="208999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Demand forecasting.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801971" y="2354759"/>
            <a:ext cx="2412543" cy="863302"/>
          </a:xfrm>
          <a:prstGeom prst="roundRect">
            <a:avLst>
              <a:gd name="adj" fmla="val 6921"/>
            </a:avLst>
          </a:prstGeom>
          <a:solidFill>
            <a:srgbClr val="152025">
              <a:alpha val="95000"/>
            </a:srgbClr>
          </a:solidFill>
          <a:ln w="19050">
            <a:solidFill>
              <a:srgbClr val="6D912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963198" y="2515989"/>
            <a:ext cx="209009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Olist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963198" y="2852043"/>
            <a:ext cx="209009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Segmentation and sentiment.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275727" y="3331865"/>
            <a:ext cx="2412444" cy="863302"/>
          </a:xfrm>
          <a:prstGeom prst="roundRect">
            <a:avLst>
              <a:gd name="adj" fmla="val 6921"/>
            </a:avLst>
          </a:prstGeom>
          <a:solidFill>
            <a:srgbClr val="152025">
              <a:alpha val="95000"/>
            </a:srgbClr>
          </a:solidFill>
          <a:ln w="19050">
            <a:solidFill>
              <a:srgbClr val="6D912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36953" y="3493095"/>
            <a:ext cx="208999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Instacart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436953" y="3829149"/>
            <a:ext cx="2089991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Recommendations.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801971" y="3331865"/>
            <a:ext cx="2412543" cy="863302"/>
          </a:xfrm>
          <a:prstGeom prst="roundRect">
            <a:avLst>
              <a:gd name="adj" fmla="val 6921"/>
            </a:avLst>
          </a:prstGeom>
          <a:solidFill>
            <a:srgbClr val="152025">
              <a:alpha val="95000"/>
            </a:srgbClr>
          </a:solidFill>
          <a:ln w="19050">
            <a:solidFill>
              <a:srgbClr val="6D912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963198" y="3493095"/>
            <a:ext cx="209009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UCI Retail II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8963198" y="3829149"/>
            <a:ext cx="2090090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Inventory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965994"/>
            <a:ext cx="10224633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Status of Paperwork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14913" y="1709142"/>
            <a:ext cx="2650662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~52%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83531" y="2334915"/>
            <a:ext cx="331342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Overall Completion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83531" y="2625427"/>
            <a:ext cx="3313426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Across all milestones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70517" y="1709142"/>
            <a:ext cx="2650662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15+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439134" y="2334915"/>
            <a:ext cx="331342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Papers Surveyed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9134" y="2625427"/>
            <a:ext cx="3313426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Literature review complete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6120" y="1709142"/>
            <a:ext cx="2650662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Dec '26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7894738" y="2334915"/>
            <a:ext cx="331342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Submission Target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94738" y="2625427"/>
            <a:ext cx="3313426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IEEE / Springer LNCS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3531" y="2958207"/>
            <a:ext cx="10224633" cy="2933700"/>
          </a:xfrm>
          <a:prstGeom prst="roundRect">
            <a:avLst>
              <a:gd name="adj" fmla="val 203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3531" y="3321745"/>
            <a:ext cx="10224633" cy="8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3531" y="3688457"/>
            <a:ext cx="10224633" cy="8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83531" y="4055170"/>
            <a:ext cx="10224633" cy="8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3531" y="4421882"/>
            <a:ext cx="10224633" cy="8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3531" y="4788595"/>
            <a:ext cx="10224633" cy="8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3531" y="5155307"/>
            <a:ext cx="10224633" cy="8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3531" y="5522020"/>
            <a:ext cx="10224633" cy="8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90079" y="2964557"/>
            <a:ext cx="4595301" cy="357187"/>
          </a:xfrm>
          <a:prstGeom prst="rect">
            <a:avLst/>
          </a:prstGeom>
          <a:solidFill>
            <a:srgbClr val="547808"/>
          </a:solidFill>
          <a:ln/>
        </p:spPr>
      </p:sp>
      <p:sp>
        <p:nvSpPr>
          <p:cNvPr id="21" name="Text 19"/>
          <p:cNvSpPr/>
          <p:nvPr/>
        </p:nvSpPr>
        <p:spPr>
          <a:xfrm>
            <a:off x="1132256" y="3039170"/>
            <a:ext cx="49205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85380" y="2964557"/>
            <a:ext cx="2552934" cy="357187"/>
          </a:xfrm>
          <a:prstGeom prst="rect">
            <a:avLst/>
          </a:prstGeom>
          <a:solidFill>
            <a:srgbClr val="547808"/>
          </a:solidFill>
          <a:ln/>
        </p:spPr>
      </p:sp>
      <p:sp>
        <p:nvSpPr>
          <p:cNvPr id="23" name="Text 21"/>
          <p:cNvSpPr/>
          <p:nvPr/>
        </p:nvSpPr>
        <p:spPr>
          <a:xfrm>
            <a:off x="5727557" y="3039170"/>
            <a:ext cx="2878165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314" y="2964557"/>
            <a:ext cx="3063501" cy="357187"/>
          </a:xfrm>
          <a:prstGeom prst="rect">
            <a:avLst/>
          </a:prstGeom>
          <a:solidFill>
            <a:srgbClr val="547808"/>
          </a:solidFill>
          <a:ln/>
        </p:spPr>
      </p:sp>
      <p:sp>
        <p:nvSpPr>
          <p:cNvPr id="25" name="Text 23"/>
          <p:cNvSpPr/>
          <p:nvPr/>
        </p:nvSpPr>
        <p:spPr>
          <a:xfrm>
            <a:off x="8280491" y="3039170"/>
            <a:ext cx="33887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Progress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2256" y="3399532"/>
            <a:ext cx="49205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Abstract &amp; Problem Statement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27557" y="3399532"/>
            <a:ext cx="2878165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✅</a:t>
            </a: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80491" y="3399532"/>
            <a:ext cx="33887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9F00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100%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2256" y="3766245"/>
            <a:ext cx="49205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Literature Survey (15+ papers)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27557" y="3766245"/>
            <a:ext cx="2878165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✅</a:t>
            </a: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Done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80491" y="3766245"/>
            <a:ext cx="33887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9F00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100%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2256" y="4132957"/>
            <a:ext cx="49205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System Architecture &amp; Methodology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27557" y="4132957"/>
            <a:ext cx="2878165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🔄</a:t>
            </a: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In Progress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80491" y="4132957"/>
            <a:ext cx="33887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1B61C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2256" y="4499670"/>
            <a:ext cx="49205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ML Model Implementation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7557" y="4499670"/>
            <a:ext cx="2878165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🔄</a:t>
            </a: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In Progress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80491" y="4499670"/>
            <a:ext cx="33887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1B61C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32256" y="4866382"/>
            <a:ext cx="49205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Digital Twin + LLM Integration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27557" y="4866382"/>
            <a:ext cx="2878165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🔄</a:t>
            </a: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In Progress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80491" y="4866382"/>
            <a:ext cx="33887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1B61C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35%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32256" y="5233095"/>
            <a:ext cx="49205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Results &amp; Evaluation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27557" y="5233095"/>
            <a:ext cx="2878165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⏳</a:t>
            </a: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Pending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80491" y="5233095"/>
            <a:ext cx="33887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32256" y="5599807"/>
            <a:ext cx="49205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Final Paper Draft &amp; Submission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727557" y="5599807"/>
            <a:ext cx="2878165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⏳</a:t>
            </a: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Pending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80491" y="5599807"/>
            <a:ext cx="3388732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0%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ΛʙʜɪɴᴀV Krishna</cp:lastModifiedBy>
  <cp:revision>2</cp:revision>
  <dcterms:created xsi:type="dcterms:W3CDTF">2026-07-26T16:47:58Z</dcterms:created>
  <dcterms:modified xsi:type="dcterms:W3CDTF">2026-07-27T06:45:48Z</dcterms:modified>
</cp:coreProperties>
</file>